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597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6"/>
          </a:solidFill>
          <a:ln w="12700">
            <a:solidFill>
              <a:srgbClr val="1230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Shape 2"/>
          <p:cNvSpPr/>
          <p:nvPr/>
        </p:nvSpPr>
        <p:spPr>
          <a:xfrm>
            <a:off x="731520" y="932688"/>
            <a:ext cx="1600200" cy="310896"/>
          </a:xfrm>
          <a:prstGeom prst="roundRect">
            <a:avLst>
              <a:gd name="adj" fmla="val 35294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731520" y="95097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DE 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581912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TASKPAD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49808" y="231343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9E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web de gestion de tâches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94436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9E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Présentation technique et visuelle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D9E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Développement front-end : HTML · CSS · JavaScript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59710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76488" y="960120"/>
            <a:ext cx="3273552" cy="4992624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1" name="Shape 9"/>
          <p:cNvSpPr/>
          <p:nvPr/>
        </p:nvSpPr>
        <p:spPr>
          <a:xfrm>
            <a:off x="8476488" y="960120"/>
            <a:ext cx="822960" cy="4992624"/>
          </a:xfrm>
          <a:prstGeom prst="roundRect">
            <a:avLst>
              <a:gd name="adj" fmla="val 20000"/>
            </a:avLst>
          </a:prstGeom>
          <a:solidFill>
            <a:srgbClr val="EAF6F3"/>
          </a:solidFill>
          <a:ln w="12700">
            <a:solidFill>
              <a:srgbClr val="EAF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2" name="Text 10"/>
          <p:cNvSpPr/>
          <p:nvPr/>
        </p:nvSpPr>
        <p:spPr>
          <a:xfrm>
            <a:off x="8686800" y="1325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622792" y="1938528"/>
            <a:ext cx="530352" cy="256032"/>
          </a:xfrm>
          <a:prstGeom prst="roundRect">
            <a:avLst>
              <a:gd name="adj" fmla="val 1785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4" name="Text 12"/>
          <p:cNvSpPr/>
          <p:nvPr/>
        </p:nvSpPr>
        <p:spPr>
          <a:xfrm>
            <a:off x="8686800" y="1975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622792" y="2368296"/>
            <a:ext cx="530352" cy="256032"/>
          </a:xfrm>
          <a:prstGeom prst="roundRect">
            <a:avLst>
              <a:gd name="adj" fmla="val 17857"/>
            </a:avLst>
          </a:prstGeom>
          <a:solidFill>
            <a:srgbClr val="EAF6F3"/>
          </a:solidFill>
          <a:ln w="12700">
            <a:solidFill>
              <a:srgbClr val="EAF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6" name="Text 14"/>
          <p:cNvSpPr/>
          <p:nvPr/>
        </p:nvSpPr>
        <p:spPr>
          <a:xfrm>
            <a:off x="8686800" y="24048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622792" y="2798064"/>
            <a:ext cx="530352" cy="256032"/>
          </a:xfrm>
          <a:prstGeom prst="roundRect">
            <a:avLst>
              <a:gd name="adj" fmla="val 17857"/>
            </a:avLst>
          </a:prstGeom>
          <a:solidFill>
            <a:srgbClr val="EAF6F3"/>
          </a:solidFill>
          <a:ln w="12700">
            <a:solidFill>
              <a:srgbClr val="EAF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8" name="Text 16"/>
          <p:cNvSpPr/>
          <p:nvPr/>
        </p:nvSpPr>
        <p:spPr>
          <a:xfrm>
            <a:off x="8686800" y="28346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528048" y="1344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tasks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28048" y="1856232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F4F6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1" name="Text 19"/>
          <p:cNvSpPr/>
          <p:nvPr/>
        </p:nvSpPr>
        <p:spPr>
          <a:xfrm>
            <a:off x="9674352" y="1938528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task...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537192" y="2450592"/>
            <a:ext cx="1792224" cy="356616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3" name="Shape 21"/>
          <p:cNvSpPr/>
          <p:nvPr/>
        </p:nvSpPr>
        <p:spPr>
          <a:xfrm>
            <a:off x="9665208" y="25694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4" name="Text 22"/>
          <p:cNvSpPr/>
          <p:nvPr/>
        </p:nvSpPr>
        <p:spPr>
          <a:xfrm>
            <a:off x="9893808" y="251460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Préparer la démo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537192" y="2953512"/>
            <a:ext cx="1792224" cy="356616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6" name="Shape 24"/>
          <p:cNvSpPr/>
          <p:nvPr/>
        </p:nvSpPr>
        <p:spPr>
          <a:xfrm>
            <a:off x="9665208" y="30723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7" name="Text 25"/>
          <p:cNvSpPr/>
          <p:nvPr/>
        </p:nvSpPr>
        <p:spPr>
          <a:xfrm>
            <a:off x="9893808" y="301752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 TaskPad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537192" y="3456432"/>
            <a:ext cx="1792224" cy="356616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9" name="Shape 27"/>
          <p:cNvSpPr/>
          <p:nvPr/>
        </p:nvSpPr>
        <p:spPr>
          <a:xfrm>
            <a:off x="9665208" y="35753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B5757"/>
          </a:solidFill>
          <a:ln w="12700">
            <a:solidFill>
              <a:srgbClr val="EB5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0" name="Text 28"/>
          <p:cNvSpPr/>
          <p:nvPr/>
        </p:nvSpPr>
        <p:spPr>
          <a:xfrm>
            <a:off x="9893808" y="352044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Présenter le projet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FONCTIONNALITÉS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gestion de tâches complète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9" name="Text 7"/>
          <p:cNvSpPr/>
          <p:nvPr/>
        </p:nvSpPr>
        <p:spPr>
          <a:xfrm>
            <a:off x="859536" y="1517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" y="219456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 au clic ou avec Entrée, avec contrôle du champ vide.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32588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3" name="Text 11"/>
          <p:cNvSpPr/>
          <p:nvPr/>
        </p:nvSpPr>
        <p:spPr>
          <a:xfrm>
            <a:off x="4590288" y="1517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90288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0288" y="219456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Priorité, date d’échéance, filtres Active / Completed et tri.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1584" y="132588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7" name="Text 15"/>
          <p:cNvSpPr/>
          <p:nvPr/>
        </p:nvSpPr>
        <p:spPr>
          <a:xfrm>
            <a:off x="8321040" y="1517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Retrouver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19456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 instantanée par texte et compteurs mis à jour.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1" name="Text 19"/>
          <p:cNvSpPr/>
          <p:nvPr/>
        </p:nvSpPr>
        <p:spPr>
          <a:xfrm>
            <a:off x="859536" y="34381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" y="41148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Édition directe, suppression et annulation via toast.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32461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5" name="Text 23"/>
          <p:cNvSpPr/>
          <p:nvPr/>
        </p:nvSpPr>
        <p:spPr>
          <a:xfrm>
            <a:off x="4590288" y="34381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90288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Finaliser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90288" y="41148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à cocher, barre de progrès et suppression des terminées.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01584" y="32461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9" name="Text 27"/>
          <p:cNvSpPr/>
          <p:nvPr/>
        </p:nvSpPr>
        <p:spPr>
          <a:xfrm>
            <a:off x="8321040" y="34381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Personnaliser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21040" y="41148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clair/sombre mémorisé pour chaque utilisateur.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&amp; UX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choix visuels de TaskPad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Shape 6"/>
          <p:cNvSpPr/>
          <p:nvPr/>
        </p:nvSpPr>
        <p:spPr>
          <a:xfrm>
            <a:off x="658368" y="1298448"/>
            <a:ext cx="466344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9" name="Text 7"/>
          <p:cNvSpPr/>
          <p:nvPr/>
        </p:nvSpPr>
        <p:spPr>
          <a:xfrm>
            <a:off x="950976" y="1600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structurée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0976" y="2029968"/>
            <a:ext cx="4069080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1" name="Shape 9"/>
          <p:cNvSpPr/>
          <p:nvPr/>
        </p:nvSpPr>
        <p:spPr>
          <a:xfrm>
            <a:off x="969264" y="23317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2" name="Text 10"/>
          <p:cNvSpPr/>
          <p:nvPr/>
        </p:nvSpPr>
        <p:spPr>
          <a:xfrm>
            <a:off x="1353312" y="22951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229514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All / Active / Completed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9264" y="300837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5" name="Text 13"/>
          <p:cNvSpPr/>
          <p:nvPr/>
        </p:nvSpPr>
        <p:spPr>
          <a:xfrm>
            <a:off x="1353312" y="29718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centrale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50592" y="29718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Ajout, recherche, tri et liste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9264" y="36850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B5757"/>
          </a:solidFill>
          <a:ln w="12700">
            <a:solidFill>
              <a:srgbClr val="EB5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8" name="Text 16"/>
          <p:cNvSpPr/>
          <p:nvPr/>
        </p:nvSpPr>
        <p:spPr>
          <a:xfrm>
            <a:off x="1353312" y="364845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Priorités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50592" y="36484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couleur discret + libellé texte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9264" y="43616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1" name="Text 19"/>
          <p:cNvSpPr/>
          <p:nvPr/>
        </p:nvSpPr>
        <p:spPr>
          <a:xfrm>
            <a:off x="1353312" y="43251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50592" y="43251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Anneau dynamique et retour de réussite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523951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100" b="1" dirty="0">
              <a:solidFill>
                <a:srgbClr val="0B7D70"/>
              </a:solidFill>
              <a:latin typeface="Aptos" pitchFamily="34" charset="0"/>
            </a:endParaRP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79008" y="1298448"/>
            <a:ext cx="5742432" cy="2066544"/>
          </a:xfrm>
          <a:prstGeom prst="roundRect">
            <a:avLst>
              <a:gd name="adj" fmla="val 7080"/>
            </a:avLst>
          </a:prstGeom>
          <a:solidFill>
            <a:srgbClr val="12161C"/>
          </a:solidFill>
          <a:ln w="12700">
            <a:solidFill>
              <a:srgbClr val="1216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5" name="Text 23"/>
          <p:cNvSpPr/>
          <p:nvPr/>
        </p:nvSpPr>
        <p:spPr>
          <a:xfrm>
            <a:off x="6108192" y="160020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sombre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08192" y="205740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7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Même organisation, palette adaptée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7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préserver le confort visuel.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802368" y="1554480"/>
            <a:ext cx="1234440" cy="1234440"/>
          </a:xfrm>
          <a:prstGeom prst="roundRect">
            <a:avLst>
              <a:gd name="adj" fmla="val 4963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8" name="Text 26"/>
          <p:cNvSpPr/>
          <p:nvPr/>
        </p:nvSpPr>
        <p:spPr>
          <a:xfrm>
            <a:off x="9802368" y="1682496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☾</a:t>
            </a:r>
            <a:endParaRPr lang="en-US" sz="3500" dirty="0"/>
          </a:p>
        </p:txBody>
      </p:sp>
      <p:sp>
        <p:nvSpPr>
          <p:cNvPr id="29" name="Shape 27"/>
          <p:cNvSpPr/>
          <p:nvPr/>
        </p:nvSpPr>
        <p:spPr>
          <a:xfrm>
            <a:off x="5779008" y="3749040"/>
            <a:ext cx="5742432" cy="2075688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0" name="Text 28"/>
          <p:cNvSpPr/>
          <p:nvPr/>
        </p:nvSpPr>
        <p:spPr>
          <a:xfrm>
            <a:off x="6108192" y="40599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Micro-interactions utiles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08192" y="452628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Transitions de thème et d’anneau, animation de validation du champ, actions d’édition visibles au survol : le visuel informe sans distraire.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structure sémantique et accessible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640080" y="124358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balisage définit des zones fonctionnelles compréhensibles pour tous les utilisateurs et faciles à maintenir.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914400" y="1984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&lt;aside&gt;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50008" y="198424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et changement de vue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3" name="Text 11"/>
          <p:cNvSpPr/>
          <p:nvPr/>
        </p:nvSpPr>
        <p:spPr>
          <a:xfrm>
            <a:off x="6492240" y="1984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27848" y="198424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Espace de travail principal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99008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6" name="Text 14"/>
          <p:cNvSpPr/>
          <p:nvPr/>
        </p:nvSpPr>
        <p:spPr>
          <a:xfrm>
            <a:off x="914400" y="31912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50008" y="3191256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Titre, date et progression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299008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9" name="Text 17"/>
          <p:cNvSpPr/>
          <p:nvPr/>
        </p:nvSpPr>
        <p:spPr>
          <a:xfrm>
            <a:off x="6492240" y="31912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&lt;section&gt;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27848" y="3191256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Ajout, recherche et statistiques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19709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2" name="Text 20"/>
          <p:cNvSpPr/>
          <p:nvPr/>
        </p:nvSpPr>
        <p:spPr>
          <a:xfrm>
            <a:off x="914400" y="4398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&lt;ul&gt; / &lt;li&gt;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50008" y="439826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de tâches générée dynamiquement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19709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5" name="Text 23"/>
          <p:cNvSpPr/>
          <p:nvPr/>
        </p:nvSpPr>
        <p:spPr>
          <a:xfrm>
            <a:off x="6492240" y="4398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&lt;button&gt;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27848" y="439826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explicites et utilisables au clavier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" y="55778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Accessibilité intégrée : labels invisibles à l’écran (sr-only), aria-label, aria-live et aria-pressed synchronisés avec l’état visuel.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style cohérent, adaptable et maintenable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Shape 6"/>
          <p:cNvSpPr/>
          <p:nvPr/>
        </p:nvSpPr>
        <p:spPr>
          <a:xfrm>
            <a:off x="676656" y="14173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9" name="Text 7"/>
          <p:cNvSpPr/>
          <p:nvPr/>
        </p:nvSpPr>
        <p:spPr>
          <a:xfrm>
            <a:off x="896112" y="16093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CSS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22860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Palette, rayons et couleurs centralisés dans :root.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14173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3" name="Text 11"/>
          <p:cNvSpPr/>
          <p:nvPr/>
        </p:nvSpPr>
        <p:spPr>
          <a:xfrm>
            <a:off x="6492240" y="16093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Thème sombre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data-theme="dark" redéfinit les mêmes variables : la palette bascule sans dupliquer les composants.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" y="3300984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7" name="Text 15"/>
          <p:cNvSpPr/>
          <p:nvPr/>
        </p:nvSpPr>
        <p:spPr>
          <a:xfrm>
            <a:off x="896112" y="34930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" y="3803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Mise en page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4169664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organise la sidebar et la zone principale ; la structure est pensée pour s’adapter.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2784" y="3300984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1" name="Text 19"/>
          <p:cNvSpPr/>
          <p:nvPr/>
        </p:nvSpPr>
        <p:spPr>
          <a:xfrm>
            <a:off x="6492240" y="34930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803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États visuels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169664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Hover, tâche terminée, priorité, état vide, bannière de succès et toast donnent un retour immédiat.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logique métier au cœur de l’expérience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640080" y="121615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JavaScript pilote l’état de l’application, le DOM et la persistance sans dépendance externe.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713232" y="185623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18013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 applicatif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1801368"/>
            <a:ext cx="7543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tasks, vue active, recherche, tri et thème.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" y="25328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4" name="Text 12"/>
          <p:cNvSpPr/>
          <p:nvPr/>
        </p:nvSpPr>
        <p:spPr>
          <a:xfrm>
            <a:off x="713232" y="26060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2551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Rendu centralisé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2551176"/>
            <a:ext cx="7543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render() reconstruit la liste, actualise compteurs, messages et sauvegarde.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" y="328269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B5757"/>
          </a:solidFill>
          <a:ln w="12700">
            <a:solidFill>
              <a:srgbClr val="EB5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8" name="Text 16"/>
          <p:cNvSpPr/>
          <p:nvPr/>
        </p:nvSpPr>
        <p:spPr>
          <a:xfrm>
            <a:off x="713232" y="33558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33009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1568" y="3300984"/>
            <a:ext cx="7543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Événements pour ajout, filtrage, tri, édition, suppression et annulation.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" y="40325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2" name="Text 20"/>
          <p:cNvSpPr/>
          <p:nvPr/>
        </p:nvSpPr>
        <p:spPr>
          <a:xfrm>
            <a:off x="713232" y="41056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5880" y="40507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 de progrès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01568" y="4050792"/>
            <a:ext cx="7543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Pourcentage terminé et strokeDashoffset du SVG mis à jour en temps réel.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" y="4782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6" name="Text 24"/>
          <p:cNvSpPr/>
          <p:nvPr/>
        </p:nvSpPr>
        <p:spPr>
          <a:xfrm>
            <a:off x="713232" y="48554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25880" y="4800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01568" y="4800600"/>
            <a:ext cx="7543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 pour tâches et thème ; sessionStorage pour vue active et brouillon.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POINTS FORTS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démontre le projet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9" name="Text 7"/>
          <p:cNvSpPr/>
          <p:nvPr/>
        </p:nvSpPr>
        <p:spPr>
          <a:xfrm>
            <a:off x="905256" y="15636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05256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Expérience utilisateur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5256" y="224028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L’utilisateur reste guidé : validation, retours d’état, progression, undo.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3" name="Text 11"/>
          <p:cNvSpPr/>
          <p:nvPr/>
        </p:nvSpPr>
        <p:spPr>
          <a:xfrm>
            <a:off x="6483096" y="15636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83096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 front-end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3096" y="224028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Séparation nette entre structure HTML, style CSS et comportement JavaScript.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29184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7" name="Text 15"/>
          <p:cNvSpPr/>
          <p:nvPr/>
        </p:nvSpPr>
        <p:spPr>
          <a:xfrm>
            <a:off x="905256" y="348386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5256" y="3794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Robustesse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" y="416052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 des données invalides en lecture, champ vide refusé, actions désactivées quand inutiles.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29184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1" name="Text 19"/>
          <p:cNvSpPr/>
          <p:nvPr/>
        </p:nvSpPr>
        <p:spPr>
          <a:xfrm>
            <a:off x="6483096" y="348386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83096" y="3794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83096" y="416052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interactions et changements d’état ne reposent pas uniquement sur la couleur ou l’icône.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DÉMONSTRATION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Scénario à </a:t>
            </a:r>
            <a:r>
              <a:rPr lang="en-US" sz="2800" b="1" dirty="0" err="1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présenter</a:t>
            </a: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Shape 6"/>
          <p:cNvSpPr/>
          <p:nvPr/>
        </p:nvSpPr>
        <p:spPr>
          <a:xfrm>
            <a:off x="667512" y="1965960"/>
            <a:ext cx="2359152" cy="2542032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9" name="Shape 7"/>
          <p:cNvSpPr/>
          <p:nvPr/>
        </p:nvSpPr>
        <p:spPr>
          <a:xfrm>
            <a:off x="877824" y="22128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877824" y="233172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3493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Saisir une tâche, choisir priorité et échéance.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44952" y="3246120"/>
            <a:ext cx="402336" cy="0"/>
          </a:xfrm>
          <a:prstGeom prst="line">
            <a:avLst/>
          </a:prstGeom>
          <a:noFill/>
          <a:ln w="15240">
            <a:solidFill>
              <a:srgbClr val="0F9C8C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4" name="Shape 12"/>
          <p:cNvSpPr/>
          <p:nvPr/>
        </p:nvSpPr>
        <p:spPr>
          <a:xfrm>
            <a:off x="3483864" y="1965960"/>
            <a:ext cx="2359152" cy="2542032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5" name="Shape 13"/>
          <p:cNvSpPr/>
          <p:nvPr/>
        </p:nvSpPr>
        <p:spPr>
          <a:xfrm>
            <a:off x="3694176" y="22128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6" name="Text 14"/>
          <p:cNvSpPr/>
          <p:nvPr/>
        </p:nvSpPr>
        <p:spPr>
          <a:xfrm>
            <a:off x="3694176" y="233172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12464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12464" y="3493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Rechercher, trier et basculer entre les vues.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61304" y="3246120"/>
            <a:ext cx="402336" cy="0"/>
          </a:xfrm>
          <a:prstGeom prst="line">
            <a:avLst/>
          </a:prstGeom>
          <a:noFill/>
          <a:ln w="15240">
            <a:solidFill>
              <a:srgbClr val="0F9C8C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0" name="Shape 18"/>
          <p:cNvSpPr/>
          <p:nvPr/>
        </p:nvSpPr>
        <p:spPr>
          <a:xfrm>
            <a:off x="6300216" y="1965960"/>
            <a:ext cx="2359152" cy="2542032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1" name="Shape 19"/>
          <p:cNvSpPr/>
          <p:nvPr/>
        </p:nvSpPr>
        <p:spPr>
          <a:xfrm>
            <a:off x="6510528" y="22128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2" name="Text 20"/>
          <p:cNvSpPr/>
          <p:nvPr/>
        </p:nvSpPr>
        <p:spPr>
          <a:xfrm>
            <a:off x="6510528" y="233172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28816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Finaliser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28816" y="3493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Cocher la tâche et observer le pourcentage.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77656" y="3246120"/>
            <a:ext cx="402336" cy="0"/>
          </a:xfrm>
          <a:prstGeom prst="line">
            <a:avLst/>
          </a:prstGeom>
          <a:noFill/>
          <a:ln w="15240">
            <a:solidFill>
              <a:srgbClr val="0F9C8C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6" name="Shape 24"/>
          <p:cNvSpPr/>
          <p:nvPr/>
        </p:nvSpPr>
        <p:spPr>
          <a:xfrm>
            <a:off x="9116568" y="1965960"/>
            <a:ext cx="2359152" cy="2542032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7" name="Shape 25"/>
          <p:cNvSpPr/>
          <p:nvPr/>
        </p:nvSpPr>
        <p:spPr>
          <a:xfrm>
            <a:off x="9326880" y="22128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8" name="Text 26"/>
          <p:cNvSpPr/>
          <p:nvPr/>
        </p:nvSpPr>
        <p:spPr>
          <a:xfrm>
            <a:off x="9326880" y="233172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45168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Sécuriser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45168" y="3493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Supprimer puis annuler immédiatement l’action.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" y="507492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clé : TaskPad transforme une suite d’actions techniques en une expérience de gestion de tâches fluide et fiable.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6"/>
          </a:solidFill>
          <a:ln w="12700">
            <a:solidFill>
              <a:srgbClr val="1230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731520" y="978408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731520" y="9966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TASKPAD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49808" y="24048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9E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projet de stage qui associe interface soignée, fonctionnalités concrètes et logique JavaScript structurée.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3968496"/>
            <a:ext cx="2971800" cy="1033272"/>
          </a:xfrm>
          <a:prstGeom prst="roundRect">
            <a:avLst>
              <a:gd name="adj" fmla="val 10619"/>
            </a:avLst>
          </a:prstGeom>
          <a:solidFill>
            <a:srgbClr val="1D465C"/>
          </a:solidFill>
          <a:ln w="12700">
            <a:solidFill>
              <a:srgbClr val="1D46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969264" y="4187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9264" y="45171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6CF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&amp; accessibilité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1104" y="3968496"/>
            <a:ext cx="2971800" cy="1033272"/>
          </a:xfrm>
          <a:prstGeom prst="roundRect">
            <a:avLst>
              <a:gd name="adj" fmla="val 10619"/>
            </a:avLst>
          </a:prstGeom>
          <a:solidFill>
            <a:srgbClr val="1D465C"/>
          </a:solidFill>
          <a:ln w="12700">
            <a:solidFill>
              <a:srgbClr val="1D46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4480560" y="4187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45171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6CF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&amp; adaptation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3968496"/>
            <a:ext cx="2971800" cy="1033272"/>
          </a:xfrm>
          <a:prstGeom prst="roundRect">
            <a:avLst>
              <a:gd name="adj" fmla="val 10619"/>
            </a:avLst>
          </a:prstGeom>
          <a:solidFill>
            <a:srgbClr val="1D465C"/>
          </a:solidFill>
          <a:ln w="12700">
            <a:solidFill>
              <a:srgbClr val="1D46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4" name="Text 12"/>
          <p:cNvSpPr/>
          <p:nvPr/>
        </p:nvSpPr>
        <p:spPr>
          <a:xfrm>
            <a:off x="7991856" y="4187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91856" y="45171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6CF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interactions &amp; persistance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609904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667</Words>
  <Application>Microsoft Office PowerPoint</Application>
  <PresentationFormat>Grand écran</PresentationFormat>
  <Paragraphs>154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TaskPad — Application Todo List</dc:title>
  <dc:subject>Présentation du projet TaskPad</dc:subject>
  <dc:creator>Stagiaire développeur logiciel</dc:creator>
  <cp:lastModifiedBy>Kengne Deniz</cp:lastModifiedBy>
  <cp:revision>2</cp:revision>
  <dcterms:created xsi:type="dcterms:W3CDTF">2026-08-21T16:08:18Z</dcterms:created>
  <dcterms:modified xsi:type="dcterms:W3CDTF">2026-08-21T16:49:08Z</dcterms:modified>
</cp:coreProperties>
</file>